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b5c6be6be_2_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8b5c6be6be_2_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8b5c6be6be_2_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b5c6be6be_2_2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8b5c6be6be_2_2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8b5c6be6be_2_2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b5c6be6be_2_7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8b5c6be6be_2_7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8b5c6be6be_2_7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b5c6be6be_2_10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8b5c6be6be_2_10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8b5c6be6be_2_10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b5c6be6be_2_12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8b5c6be6be_2_12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8b5c6be6be_2_12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b5c6be6be_2_18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8b5c6be6be_2_18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8b5c6be6be_2_18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b5c6be6be_2_20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8b5c6be6be_2_20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8b5c6be6be_2_20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b5c6be6be_2_23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8b5c6be6be_2_23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38b5c6be6be_2_23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b5c6be6be_2_26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8b5c6be6be_2_26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8b5c6be6be_2_26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ES">
  <p:cSld name="AFES">
    <p:bg>
      <p:bgPr>
        <a:solidFill>
          <a:srgbClr val="F7F4FB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0" y="0"/>
            <a:ext cx="9143771" cy="150876"/>
          </a:xfrm>
          <a:prstGeom prst="rect">
            <a:avLst/>
          </a:prstGeom>
          <a:solidFill>
            <a:srgbClr val="5A2A88"/>
          </a:solidFill>
          <a:ln cap="flat" cmpd="sng" w="12700">
            <a:solidFill>
              <a:srgbClr val="5A2A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4"/>
          <p:cNvSpPr/>
          <p:nvPr/>
        </p:nvSpPr>
        <p:spPr>
          <a:xfrm>
            <a:off x="0" y="4937760"/>
            <a:ext cx="9143771" cy="205740"/>
          </a:xfrm>
          <a:prstGeom prst="rect">
            <a:avLst/>
          </a:prstGeom>
          <a:solidFill>
            <a:srgbClr val="EEE7FA"/>
          </a:solidFill>
          <a:ln cap="flat" cmpd="sng" w="12700">
            <a:solidFill>
              <a:srgbClr val="EEE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606790" y="491718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606790" y="491718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F8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0" y="0"/>
            <a:ext cx="445770" cy="5143500"/>
          </a:xfrm>
          <a:prstGeom prst="rect">
            <a:avLst/>
          </a:prstGeom>
          <a:solidFill>
            <a:srgbClr val="4F25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6"/>
          <p:cNvSpPr txBox="1"/>
          <p:nvPr/>
        </p:nvSpPr>
        <p:spPr>
          <a:xfrm>
            <a:off x="685800" y="562356"/>
            <a:ext cx="281177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68499C"/>
                </a:solidFill>
                <a:latin typeface="Arial"/>
                <a:ea typeface="Arial"/>
                <a:cs typeface="Arial"/>
                <a:sym typeface="Arial"/>
              </a:rPr>
              <a:t>RELAZIONE FINALE DI TIROCINIO</a:t>
            </a:r>
            <a:endParaRPr sz="1100"/>
          </a:p>
        </p:txBody>
      </p:sp>
      <p:sp>
        <p:nvSpPr>
          <p:cNvPr id="64" name="Google Shape;64;p16"/>
          <p:cNvSpPr txBox="1"/>
          <p:nvPr/>
        </p:nvSpPr>
        <p:spPr>
          <a:xfrm>
            <a:off x="685800" y="809244"/>
            <a:ext cx="38404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100" u="none" cap="none" strike="noStrike">
                <a:solidFill>
                  <a:srgbClr val="4F257E"/>
                </a:solidFill>
                <a:latin typeface="Arial"/>
                <a:ea typeface="Arial"/>
                <a:cs typeface="Arial"/>
                <a:sym typeface="Arial"/>
              </a:rPr>
              <a:t>Tirocinio in azienda</a:t>
            </a:r>
            <a:endParaRPr sz="1100"/>
          </a:p>
        </p:txBody>
      </p:sp>
      <p:sp>
        <p:nvSpPr>
          <p:cNvPr id="65" name="Google Shape;65;p16"/>
          <p:cNvSpPr txBox="1"/>
          <p:nvPr/>
        </p:nvSpPr>
        <p:spPr>
          <a:xfrm>
            <a:off x="685800" y="1392173"/>
            <a:ext cx="34290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rgbClr val="746789"/>
                </a:solidFill>
                <a:latin typeface="Arial"/>
                <a:ea typeface="Arial"/>
                <a:cs typeface="Arial"/>
                <a:sym typeface="Arial"/>
              </a:rPr>
              <a:t>Relazione e presentazione finale</a:t>
            </a:r>
            <a:endParaRPr sz="1100"/>
          </a:p>
        </p:txBody>
      </p:sp>
      <p:sp>
        <p:nvSpPr>
          <p:cNvPr id="66" name="Google Shape;66;p16"/>
          <p:cNvSpPr/>
          <p:nvPr/>
        </p:nvSpPr>
        <p:spPr>
          <a:xfrm>
            <a:off x="685800" y="1728216"/>
            <a:ext cx="1097280" cy="41148"/>
          </a:xfrm>
          <a:prstGeom prst="rect">
            <a:avLst/>
          </a:prstGeom>
          <a:solidFill>
            <a:srgbClr val="4F25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4834890" y="493776"/>
            <a:ext cx="3600450" cy="14401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1DA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8" name="Google Shape;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1204" y="685800"/>
            <a:ext cx="3120390" cy="111099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/>
          <p:nvPr/>
        </p:nvSpPr>
        <p:spPr>
          <a:xfrm>
            <a:off x="685800" y="3531870"/>
            <a:ext cx="3188970" cy="1014984"/>
          </a:xfrm>
          <a:prstGeom prst="roundRect">
            <a:avLst>
              <a:gd fmla="val 16667" name="adj"/>
            </a:avLst>
          </a:prstGeom>
          <a:solidFill>
            <a:srgbClr val="4F25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877824" y="3744468"/>
            <a:ext cx="2811779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Riccardo Strina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Tirocinante IT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 marzo – 9 aprile 2026</a:t>
            </a:r>
            <a:endParaRPr sz="1100"/>
          </a:p>
        </p:txBody>
      </p:sp>
      <p:sp>
        <p:nvSpPr>
          <p:cNvPr id="71" name="Google Shape;71;p16"/>
          <p:cNvSpPr/>
          <p:nvPr/>
        </p:nvSpPr>
        <p:spPr>
          <a:xfrm>
            <a:off x="4834890" y="3669030"/>
            <a:ext cx="973836" cy="384048"/>
          </a:xfrm>
          <a:prstGeom prst="roundRect">
            <a:avLst>
              <a:gd fmla="val 16667" name="adj"/>
            </a:avLst>
          </a:prstGeom>
          <a:solidFill>
            <a:srgbClr val="F5F1F8"/>
          </a:solidFill>
          <a:ln cap="flat" cmpd="sng" w="15225">
            <a:solidFill>
              <a:srgbClr val="6849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4889754" y="3751326"/>
            <a:ext cx="86410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4F257E"/>
                </a:solidFill>
                <a:latin typeface="Arial"/>
                <a:ea typeface="Arial"/>
                <a:cs typeface="Arial"/>
                <a:sym typeface="Arial"/>
              </a:rPr>
              <a:t>Sicurezza</a:t>
            </a:r>
            <a:endParaRPr sz="1100"/>
          </a:p>
        </p:txBody>
      </p:sp>
      <p:sp>
        <p:nvSpPr>
          <p:cNvPr id="73" name="Google Shape;73;p16"/>
          <p:cNvSpPr/>
          <p:nvPr/>
        </p:nvSpPr>
        <p:spPr>
          <a:xfrm>
            <a:off x="5911595" y="3669030"/>
            <a:ext cx="1248156" cy="384048"/>
          </a:xfrm>
          <a:prstGeom prst="roundRect">
            <a:avLst>
              <a:gd fmla="val 16667" name="adj"/>
            </a:avLst>
          </a:prstGeom>
          <a:solidFill>
            <a:srgbClr val="F5F1F8"/>
          </a:solidFill>
          <a:ln cap="flat" cmpd="sng" w="15225">
            <a:solidFill>
              <a:srgbClr val="6849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5966459" y="3751326"/>
            <a:ext cx="11384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4F257E"/>
                </a:solidFill>
                <a:latin typeface="Arial"/>
                <a:ea typeface="Arial"/>
                <a:cs typeface="Arial"/>
                <a:sym typeface="Arial"/>
              </a:rPr>
              <a:t>Raccolta dati</a:t>
            </a:r>
            <a:endParaRPr sz="1100"/>
          </a:p>
        </p:txBody>
      </p:sp>
      <p:sp>
        <p:nvSpPr>
          <p:cNvPr id="75" name="Google Shape;75;p16"/>
          <p:cNvSpPr/>
          <p:nvPr/>
        </p:nvSpPr>
        <p:spPr>
          <a:xfrm>
            <a:off x="7283196" y="3669030"/>
            <a:ext cx="1179576" cy="384048"/>
          </a:xfrm>
          <a:prstGeom prst="roundRect">
            <a:avLst>
              <a:gd fmla="val 16667" name="adj"/>
            </a:avLst>
          </a:prstGeom>
          <a:solidFill>
            <a:srgbClr val="F5F1F8"/>
          </a:solidFill>
          <a:ln cap="flat" cmpd="sng" w="15225">
            <a:solidFill>
              <a:srgbClr val="6849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7338060" y="3751326"/>
            <a:ext cx="10698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4F257E"/>
                </a:solidFill>
                <a:latin typeface="Arial"/>
                <a:ea typeface="Arial"/>
                <a:cs typeface="Arial"/>
                <a:sym typeface="Arial"/>
              </a:rPr>
              <a:t>Wiki interna</a:t>
            </a:r>
            <a:endParaRPr sz="1100"/>
          </a:p>
        </p:txBody>
      </p:sp>
      <p:sp>
        <p:nvSpPr>
          <p:cNvPr id="77" name="Google Shape;77;p16"/>
          <p:cNvSpPr txBox="1"/>
          <p:nvPr/>
        </p:nvSpPr>
        <p:spPr>
          <a:xfrm>
            <a:off x="4834890" y="4224528"/>
            <a:ext cx="3291840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000" u="none" cap="none" strike="noStrike">
                <a:solidFill>
                  <a:srgbClr val="746789"/>
                </a:solidFill>
                <a:latin typeface="Arial"/>
                <a:ea typeface="Arial"/>
                <a:cs typeface="Arial"/>
                <a:sym typeface="Arial"/>
              </a:rPr>
              <a:t>Sicurezza informatica · Raccolta dati · Wiki interna</a:t>
            </a:r>
            <a:endParaRPr sz="1100"/>
          </a:p>
        </p:txBody>
      </p:sp>
      <p:sp>
        <p:nvSpPr>
          <p:cNvPr id="78" name="Google Shape;78;p16"/>
          <p:cNvSpPr/>
          <p:nvPr/>
        </p:nvSpPr>
        <p:spPr>
          <a:xfrm>
            <a:off x="8401050" y="4718304"/>
            <a:ext cx="178308" cy="178308"/>
          </a:xfrm>
          <a:prstGeom prst="rect">
            <a:avLst/>
          </a:prstGeom>
          <a:solidFill>
            <a:srgbClr val="4F25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480060" y="308610"/>
            <a:ext cx="5349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800"/>
              <a:buFont typeface="Play"/>
              <a:buNone/>
            </a:pPr>
            <a:r>
              <a:rPr b="1" i="0" lang="it" sz="1800" u="none" cap="none" strike="noStrike">
                <a:solidFill>
                  <a:srgbClr val="4B1F73"/>
                </a:solidFill>
                <a:latin typeface="Play"/>
                <a:ea typeface="Play"/>
                <a:cs typeface="Play"/>
                <a:sym typeface="Play"/>
              </a:rPr>
              <a:t>Percorso del tirocinio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93776" y="630936"/>
            <a:ext cx="6035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678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6E6678"/>
                </a:solidFill>
                <a:latin typeface="Arial"/>
                <a:ea typeface="Arial"/>
                <a:cs typeface="Arial"/>
                <a:sym typeface="Arial"/>
              </a:rPr>
              <a:t>Dalla raccolta dati iniziale alla realizzazione di una wiki interna.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7372350" y="288036"/>
            <a:ext cx="1303020" cy="233172"/>
          </a:xfrm>
          <a:prstGeom prst="roundRect">
            <a:avLst>
              <a:gd fmla="val 23529" name="adj"/>
            </a:avLst>
          </a:prstGeom>
          <a:solidFill>
            <a:srgbClr val="EEE7FA"/>
          </a:solidFill>
          <a:ln cap="flat" cmpd="sng" w="12700">
            <a:solidFill>
              <a:srgbClr val="EEE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7427214" y="336042"/>
            <a:ext cx="120015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700"/>
              <a:buFont typeface="Arial"/>
              <a:buNone/>
            </a:pPr>
            <a:r>
              <a:rPr b="1" i="0" lang="it" sz="7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Timeline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7"/>
          <p:cNvCxnSpPr/>
          <p:nvPr/>
        </p:nvCxnSpPr>
        <p:spPr>
          <a:xfrm>
            <a:off x="754380" y="2263140"/>
            <a:ext cx="7475220" cy="0"/>
          </a:xfrm>
          <a:prstGeom prst="straightConnector1">
            <a:avLst/>
          </a:prstGeom>
          <a:noFill/>
          <a:ln cap="flat" cmpd="sng" w="12700">
            <a:solidFill>
              <a:srgbClr val="D8C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7"/>
          <p:cNvSpPr/>
          <p:nvPr/>
        </p:nvSpPr>
        <p:spPr>
          <a:xfrm>
            <a:off x="1014984" y="2091690"/>
            <a:ext cx="301752" cy="30175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6D37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1083564" y="2153412"/>
            <a:ext cx="164592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672084" y="1714500"/>
            <a:ext cx="98755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Antenne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630936" y="2489454"/>
            <a:ext cx="1069848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Capire uso e ruolo delle trasmissioni wireless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17"/>
          <p:cNvCxnSpPr/>
          <p:nvPr/>
        </p:nvCxnSpPr>
        <p:spPr>
          <a:xfrm>
            <a:off x="754380" y="2263140"/>
            <a:ext cx="7475220" cy="0"/>
          </a:xfrm>
          <a:prstGeom prst="straightConnector1">
            <a:avLst/>
          </a:prstGeom>
          <a:noFill/>
          <a:ln cap="flat" cmpd="sng" w="12700">
            <a:solidFill>
              <a:srgbClr val="D8C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7"/>
          <p:cNvSpPr/>
          <p:nvPr/>
        </p:nvSpPr>
        <p:spPr>
          <a:xfrm>
            <a:off x="2283714" y="2091690"/>
            <a:ext cx="301752" cy="30175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6D37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2352294" y="2153412"/>
            <a:ext cx="164592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1940814" y="1714500"/>
            <a:ext cx="98755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PC aziendali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1899666" y="2489454"/>
            <a:ext cx="1069848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Raccolta specifiche e componenti hardware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7"/>
          <p:cNvCxnSpPr/>
          <p:nvPr/>
        </p:nvCxnSpPr>
        <p:spPr>
          <a:xfrm>
            <a:off x="754380" y="2263140"/>
            <a:ext cx="7475220" cy="0"/>
          </a:xfrm>
          <a:prstGeom prst="straightConnector1">
            <a:avLst/>
          </a:prstGeom>
          <a:noFill/>
          <a:ln cap="flat" cmpd="sng" w="12700">
            <a:solidFill>
              <a:srgbClr val="D8C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7"/>
          <p:cNvSpPr/>
          <p:nvPr/>
        </p:nvSpPr>
        <p:spPr>
          <a:xfrm>
            <a:off x="3552444" y="2091690"/>
            <a:ext cx="301752" cy="30175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6D37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621024" y="2153412"/>
            <a:ext cx="164592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3209544" y="1714500"/>
            <a:ext cx="98755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Guide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168396" y="2489454"/>
            <a:ext cx="1069848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Promemoria generale sulla sicurezza informatica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754380" y="2263140"/>
            <a:ext cx="7475220" cy="0"/>
          </a:xfrm>
          <a:prstGeom prst="straightConnector1">
            <a:avLst/>
          </a:prstGeom>
          <a:noFill/>
          <a:ln cap="flat" cmpd="sng" w="12700">
            <a:solidFill>
              <a:srgbClr val="D8C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7"/>
          <p:cNvSpPr/>
          <p:nvPr/>
        </p:nvSpPr>
        <p:spPr>
          <a:xfrm>
            <a:off x="4821174" y="2091690"/>
            <a:ext cx="301752" cy="30175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6D37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889754" y="2153412"/>
            <a:ext cx="164592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478274" y="1714500"/>
            <a:ext cx="98755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Sito wiki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437126" y="2489454"/>
            <a:ext cx="1069848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Progetto web al posto del materiale cartaceo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17"/>
          <p:cNvCxnSpPr/>
          <p:nvPr/>
        </p:nvCxnSpPr>
        <p:spPr>
          <a:xfrm>
            <a:off x="754380" y="2263140"/>
            <a:ext cx="7475220" cy="0"/>
          </a:xfrm>
          <a:prstGeom prst="straightConnector1">
            <a:avLst/>
          </a:prstGeom>
          <a:noFill/>
          <a:ln cap="flat" cmpd="sng" w="12700">
            <a:solidFill>
              <a:srgbClr val="D8C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17"/>
          <p:cNvSpPr/>
          <p:nvPr/>
        </p:nvSpPr>
        <p:spPr>
          <a:xfrm>
            <a:off x="6089904" y="2091690"/>
            <a:ext cx="301752" cy="30175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6D37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158484" y="2153412"/>
            <a:ext cx="164592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747004" y="1714500"/>
            <a:ext cx="98755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GitHub Pages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5705856" y="2489454"/>
            <a:ext cx="1069848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Hosting semplice e aggiornabile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17"/>
          <p:cNvCxnSpPr/>
          <p:nvPr/>
        </p:nvCxnSpPr>
        <p:spPr>
          <a:xfrm>
            <a:off x="754380" y="2263140"/>
            <a:ext cx="7475220" cy="0"/>
          </a:xfrm>
          <a:prstGeom prst="straightConnector1">
            <a:avLst/>
          </a:prstGeom>
          <a:noFill/>
          <a:ln cap="flat" cmpd="sng" w="12700">
            <a:solidFill>
              <a:srgbClr val="D8C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7"/>
          <p:cNvSpPr/>
          <p:nvPr/>
        </p:nvSpPr>
        <p:spPr>
          <a:xfrm>
            <a:off x="7358634" y="2091690"/>
            <a:ext cx="301752" cy="30175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6D37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7427214" y="2153412"/>
            <a:ext cx="164592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7015734" y="1714500"/>
            <a:ext cx="98755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Vulnerabilità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6974586" y="2489454"/>
            <a:ext cx="1069848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Firewall, Defender, antivirus e systeminfo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685800" y="3669030"/>
            <a:ext cx="7680960" cy="78867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381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809244" y="3867912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Idea chiave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1577340" y="3771900"/>
            <a:ext cx="600075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900"/>
              <a:buFont typeface="Arial"/>
              <a:buNone/>
            </a:pPr>
            <a:r>
              <a:rPr b="0" i="0" lang="it" sz="9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Il lavoro non è rimasto solo teorico: è diventato una risorsa concreta per l’azienda, prima come raccolta ordinata di dati e poi come sito consultabile e aggiornabile.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idx="4294967295" type="sldNum"/>
          </p:nvPr>
        </p:nvSpPr>
        <p:spPr>
          <a:xfrm>
            <a:off x="8606790" y="491718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it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5A2A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480060" y="308610"/>
            <a:ext cx="5349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800"/>
              <a:buFont typeface="Play"/>
              <a:buNone/>
            </a:pPr>
            <a:r>
              <a:rPr b="1" i="0" lang="it" sz="1800" u="none" cap="none" strike="noStrike">
                <a:solidFill>
                  <a:srgbClr val="4B1F73"/>
                </a:solidFill>
                <a:latin typeface="Play"/>
                <a:ea typeface="Play"/>
                <a:cs typeface="Play"/>
                <a:sym typeface="Play"/>
              </a:rPr>
              <a:t>Le prime attività tecniche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93776" y="630936"/>
            <a:ext cx="6035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678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6E6678"/>
                </a:solidFill>
                <a:latin typeface="Arial"/>
                <a:ea typeface="Arial"/>
                <a:cs typeface="Arial"/>
                <a:sym typeface="Arial"/>
              </a:rPr>
              <a:t>Osservazione, raccolta dati e comprensione dell’infrastruttura aziendale.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372350" y="288036"/>
            <a:ext cx="1303020" cy="233172"/>
          </a:xfrm>
          <a:prstGeom prst="roundRect">
            <a:avLst>
              <a:gd fmla="val 23529" name="adj"/>
            </a:avLst>
          </a:prstGeom>
          <a:solidFill>
            <a:srgbClr val="EEE7FA"/>
          </a:solidFill>
          <a:ln cap="flat" cmpd="sng" w="12700">
            <a:solidFill>
              <a:srgbClr val="EEE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7427214" y="336042"/>
            <a:ext cx="120015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700"/>
              <a:buFont typeface="Arial"/>
              <a:buNone/>
            </a:pPr>
            <a:r>
              <a:rPr b="1" i="0" lang="it" sz="7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Attività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548640" y="1062990"/>
            <a:ext cx="2606040" cy="130302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72084" y="1186434"/>
            <a:ext cx="425196" cy="425196"/>
          </a:xfrm>
          <a:prstGeom prst="roundRect">
            <a:avLst>
              <a:gd fmla="val 19355" name="adj"/>
            </a:avLst>
          </a:prstGeom>
          <a:solidFill>
            <a:srgbClr val="F3EEFD"/>
          </a:solidFill>
          <a:ln cap="flat" cmpd="sng" w="12700">
            <a:solidFill>
              <a:srgbClr val="F3EE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522" y="12618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/>
          <p:nvPr/>
        </p:nvSpPr>
        <p:spPr>
          <a:xfrm>
            <a:off x="1200150" y="1186434"/>
            <a:ext cx="18516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Antenne wireless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1200150" y="1385316"/>
            <a:ext cx="183794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Mi fu chiesto di capire a cosa servissero le antenne presenti negli uffici e di farmi spiegare il senso delle trasmissioni point-to-point e point-to-multipoint.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291840" y="1062990"/>
            <a:ext cx="2606040" cy="130302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3415284" y="1186434"/>
            <a:ext cx="425196" cy="425196"/>
          </a:xfrm>
          <a:prstGeom prst="roundRect">
            <a:avLst>
              <a:gd fmla="val 19355" name="adj"/>
            </a:avLst>
          </a:prstGeom>
          <a:solidFill>
            <a:srgbClr val="F3EEFD"/>
          </a:solidFill>
          <a:ln cap="flat" cmpd="sng" w="12700">
            <a:solidFill>
              <a:srgbClr val="F3EE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0722" y="12618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/>
          <p:nvPr/>
        </p:nvSpPr>
        <p:spPr>
          <a:xfrm>
            <a:off x="3943350" y="1186434"/>
            <a:ext cx="18516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Inventario dei PC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943350" y="1385316"/>
            <a:ext cx="183794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Girando per gli uffici ho raccolto specifiche e componenti dei computer, costruendo una panoramica ordinata delle macchine usate in azienda.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548640" y="2640330"/>
            <a:ext cx="2640330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548640" y="2640330"/>
            <a:ext cx="54864" cy="1371600"/>
          </a:xfrm>
          <a:prstGeom prst="rect">
            <a:avLst/>
          </a:prstGeom>
          <a:solidFill>
            <a:srgbClr val="6D37A6"/>
          </a:solidFill>
          <a:ln cap="flat" cmpd="sng" w="12700">
            <a:solidFill>
              <a:srgbClr val="6D37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699516" y="2750058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Cosa ho fatto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672084" y="2969514"/>
            <a:ext cx="2434590" cy="94640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Raccolta di componenti e caratteristiche hardware.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Inserimento ordinato dei dati su Google Sheets.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Osservazione diretta delle postazioni nei vari uffici.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257550" y="2640330"/>
            <a:ext cx="2640330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3257550" y="2640330"/>
            <a:ext cx="54864" cy="1371600"/>
          </a:xfrm>
          <a:prstGeom prst="rect">
            <a:avLst/>
          </a:prstGeom>
          <a:solidFill>
            <a:srgbClr val="8C55DB"/>
          </a:solidFill>
          <a:ln cap="flat" cmpd="sng" w="12700">
            <a:solidFill>
              <a:srgbClr val="8C5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408426" y="2750058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Cosa ho capito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3380994" y="2969514"/>
            <a:ext cx="2434590" cy="94640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In azienda serve avere dati tecnici chiari e aggiornati.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La rete conta quanto i PC: le sedi comunicano anche tramite collegamenti radio.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La precisione nella raccolta informazioni è già parte del lavoro IT.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5966460" y="1062990"/>
            <a:ext cx="2640330" cy="294894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966460" y="1062990"/>
            <a:ext cx="54864" cy="2948940"/>
          </a:xfrm>
          <a:prstGeom prst="rect">
            <a:avLst/>
          </a:prstGeom>
          <a:solidFill>
            <a:srgbClr val="B77AF7"/>
          </a:solidFill>
          <a:ln cap="flat" cmpd="sng" w="12700">
            <a:solidFill>
              <a:srgbClr val="B77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6117336" y="1172718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Perché era utile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6089904" y="1392174"/>
            <a:ext cx="2434590" cy="252374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Un inventario tecnico aiuta manutenzione, controlli e visione d’insieme.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Capire l’infrastruttura rende più chiaro il contesto in cui si lavora.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Le informazioni raccolte sono poi diventate base per il sito interno.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 txBox="1"/>
          <p:nvPr>
            <p:ph idx="4294967295" type="sldNum"/>
          </p:nvPr>
        </p:nvSpPr>
        <p:spPr>
          <a:xfrm>
            <a:off x="8606790" y="491718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it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5A2A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/>
          <p:nvPr/>
        </p:nvSpPr>
        <p:spPr>
          <a:xfrm>
            <a:off x="480060" y="308610"/>
            <a:ext cx="5349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800"/>
              <a:buFont typeface="Play"/>
              <a:buNone/>
            </a:pPr>
            <a:r>
              <a:rPr b="1" i="0" lang="it" sz="1800" u="none" cap="none" strike="noStrike">
                <a:solidFill>
                  <a:srgbClr val="4B1F73"/>
                </a:solidFill>
                <a:latin typeface="Play"/>
                <a:ea typeface="Play"/>
                <a:cs typeface="Play"/>
                <a:sym typeface="Play"/>
              </a:rPr>
              <a:t>Sicurezza informatica: parte pratica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93776" y="630936"/>
            <a:ext cx="6035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678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6E6678"/>
                </a:solidFill>
                <a:latin typeface="Arial"/>
                <a:ea typeface="Arial"/>
                <a:cs typeface="Arial"/>
                <a:sym typeface="Arial"/>
              </a:rPr>
              <a:t>Dalla guida per i dipendenti ai controlli tecnici sulle postazioni.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7372350" y="288036"/>
            <a:ext cx="1303020" cy="233172"/>
          </a:xfrm>
          <a:prstGeom prst="roundRect">
            <a:avLst>
              <a:gd fmla="val 23529" name="adj"/>
            </a:avLst>
          </a:prstGeom>
          <a:solidFill>
            <a:srgbClr val="EEE7FA"/>
          </a:solidFill>
          <a:ln cap="flat" cmpd="sng" w="12700">
            <a:solidFill>
              <a:srgbClr val="EEE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427214" y="336042"/>
            <a:ext cx="120015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700"/>
              <a:buFont typeface="Arial"/>
              <a:buNone/>
            </a:pPr>
            <a:r>
              <a:rPr b="1" i="0" lang="it" sz="7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48640" y="1028700"/>
            <a:ext cx="2606040" cy="130302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672084" y="1152144"/>
            <a:ext cx="425196" cy="425196"/>
          </a:xfrm>
          <a:prstGeom prst="roundRect">
            <a:avLst>
              <a:gd fmla="val 19355" name="adj"/>
            </a:avLst>
          </a:prstGeom>
          <a:solidFill>
            <a:srgbClr val="F3EEFD"/>
          </a:solidFill>
          <a:ln cap="flat" cmpd="sng" w="12700">
            <a:solidFill>
              <a:srgbClr val="F3EE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522" y="122758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/>
          <p:nvPr/>
        </p:nvSpPr>
        <p:spPr>
          <a:xfrm>
            <a:off x="1200150" y="1152144"/>
            <a:ext cx="18516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Guida sulla sicurezza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200150" y="1351026"/>
            <a:ext cx="183794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Ho scritto una guida generale, poi una versione più curata da me, per raccogliere consigli e comportamenti corretti da tenere in ambito informatico.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3326130" y="1028700"/>
            <a:ext cx="2640330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326130" y="1028700"/>
            <a:ext cx="54864" cy="1371600"/>
          </a:xfrm>
          <a:prstGeom prst="rect">
            <a:avLst/>
          </a:prstGeom>
          <a:solidFill>
            <a:srgbClr val="6D37A6"/>
          </a:solidFill>
          <a:ln cap="flat" cmpd="sng" w="12700">
            <a:solidFill>
              <a:srgbClr val="6D37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3477006" y="1138428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Controlli eseguiti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3449574" y="1357884"/>
            <a:ext cx="2434590" cy="94640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Stato del firewall.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Presenza e stato di Defender / antivirus.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Comando “systeminfo” dal terminale Windows.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6035040" y="1028700"/>
            <a:ext cx="2571750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6035040" y="1028700"/>
            <a:ext cx="54864" cy="1371600"/>
          </a:xfrm>
          <a:prstGeom prst="rect">
            <a:avLst/>
          </a:prstGeom>
          <a:solidFill>
            <a:srgbClr val="9C5DF5"/>
          </a:solidFill>
          <a:ln cap="flat" cmpd="sng" w="12700">
            <a:solidFill>
              <a:srgbClr val="9C5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6185916" y="1138428"/>
            <a:ext cx="23317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Perché conta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6158484" y="1357884"/>
            <a:ext cx="2366010" cy="94640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La sicurezza non è solo software: conta anche il comportamento degli utenti.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Anche strumenti semplici possono dare dati tecnici utili e immediati.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48640" y="2811780"/>
            <a:ext cx="8058150" cy="130302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26948" y="3031236"/>
            <a:ext cx="18516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Quello che ho imparato davvero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85800" y="3319272"/>
            <a:ext cx="74752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Spiegare bene le regole di sicurezza può essere utile quasi quanto fare un controllo tecnico.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Controllare firewall, antivirus e dati di sistema aiuta ad avere una fotografia reale delle macchine.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La sicurezza aziendale è fatta sia di strumenti sia di abitudini quotidiane.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 txBox="1"/>
          <p:nvPr>
            <p:ph idx="4294967295" type="sldNum"/>
          </p:nvPr>
        </p:nvSpPr>
        <p:spPr>
          <a:xfrm>
            <a:off x="8606790" y="491718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it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5A2A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/>
          <p:nvPr/>
        </p:nvSpPr>
        <p:spPr>
          <a:xfrm>
            <a:off x="480060" y="308610"/>
            <a:ext cx="5349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800"/>
              <a:buFont typeface="Play"/>
              <a:buNone/>
            </a:pPr>
            <a:r>
              <a:rPr b="1" i="0" lang="it" sz="1800" u="none" cap="none" strike="noStrike">
                <a:solidFill>
                  <a:srgbClr val="4B1F73"/>
                </a:solidFill>
                <a:latin typeface="Play"/>
                <a:ea typeface="Play"/>
                <a:cs typeface="Play"/>
                <a:sym typeface="Play"/>
              </a:rPr>
              <a:t>Evoluzione del progetto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93776" y="630936"/>
            <a:ext cx="6035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678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6E6678"/>
                </a:solidFill>
                <a:latin typeface="Arial"/>
                <a:ea typeface="Arial"/>
                <a:cs typeface="Arial"/>
                <a:sym typeface="Arial"/>
              </a:rPr>
              <a:t>Da materiale cartaceo a sito web interno in stile wiki.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7372350" y="288036"/>
            <a:ext cx="1303020" cy="233172"/>
          </a:xfrm>
          <a:prstGeom prst="roundRect">
            <a:avLst>
              <a:gd fmla="val 23529" name="adj"/>
            </a:avLst>
          </a:prstGeom>
          <a:solidFill>
            <a:srgbClr val="EEE7FA"/>
          </a:solidFill>
          <a:ln cap="flat" cmpd="sng" w="12700">
            <a:solidFill>
              <a:srgbClr val="EEE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427214" y="336042"/>
            <a:ext cx="120015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700"/>
              <a:buFont typeface="Arial"/>
              <a:buNone/>
            </a:pPr>
            <a:r>
              <a:rPr b="1" i="0" lang="it" sz="7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51510" y="1131570"/>
            <a:ext cx="154305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822960" y="1337310"/>
            <a:ext cx="11658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1000"/>
              <a:buFont typeface="Arial"/>
              <a:buNone/>
            </a:pPr>
            <a:r>
              <a:rPr b="1" i="0" lang="it" sz="10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Idea iniziale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822960" y="1536192"/>
            <a:ext cx="116586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Tabelle + guida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da stampare e distribuire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434590" y="1371600"/>
            <a:ext cx="548640" cy="308610"/>
          </a:xfrm>
          <a:prstGeom prst="chevron">
            <a:avLst>
              <a:gd fmla="val 50000" name="adj"/>
            </a:avLst>
          </a:prstGeom>
          <a:solidFill>
            <a:srgbClr val="CDB8F4"/>
          </a:solidFill>
          <a:ln cap="flat" cmpd="sng" w="12700">
            <a:solidFill>
              <a:srgbClr val="CDB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154680" y="994410"/>
            <a:ext cx="2811780" cy="1097280"/>
          </a:xfrm>
          <a:prstGeom prst="roundRect">
            <a:avLst>
              <a:gd fmla="val 5000" name="adj"/>
            </a:avLst>
          </a:prstGeom>
          <a:solidFill>
            <a:srgbClr val="F4EEFE"/>
          </a:solidFill>
          <a:ln cap="flat" cmpd="sng" w="12700">
            <a:solidFill>
              <a:srgbClr val="E7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429000" y="1220724"/>
            <a:ext cx="22631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Scelta progettuale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463290" y="1453896"/>
            <a:ext cx="21945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Ho deciso di strutturare tutto come una piccola wiki: più ordinata, più consultabile, più facile da aggiornare.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185916" y="1371600"/>
            <a:ext cx="548640" cy="308610"/>
          </a:xfrm>
          <a:prstGeom prst="chevron">
            <a:avLst>
              <a:gd fmla="val 50000" name="adj"/>
            </a:avLst>
          </a:prstGeom>
          <a:solidFill>
            <a:srgbClr val="CDB8F4"/>
          </a:solidFill>
          <a:ln cap="flat" cmpd="sng" w="12700">
            <a:solidFill>
              <a:srgbClr val="CDB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6858000" y="1131570"/>
            <a:ext cx="161163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7050024" y="1337310"/>
            <a:ext cx="12344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1000"/>
              <a:buFont typeface="Arial"/>
              <a:buNone/>
            </a:pPr>
            <a:r>
              <a:rPr b="1" i="0" lang="it" sz="10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Pubblicazione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7050024" y="1536192"/>
            <a:ext cx="123444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Hosting tramite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GitHub Pages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85800" y="2366010"/>
            <a:ext cx="4114800" cy="192024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0160">
              <a:srgbClr val="000000">
                <a:alpha val="1411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85800" y="2366010"/>
            <a:ext cx="4114800" cy="288036"/>
          </a:xfrm>
          <a:prstGeom prst="roundRect">
            <a:avLst>
              <a:gd fmla="val 19048" name="adj"/>
            </a:avLst>
          </a:prstGeom>
          <a:solidFill>
            <a:srgbClr val="F2ECFC"/>
          </a:solidFill>
          <a:ln cap="flat" cmpd="sng" w="12700">
            <a:solidFill>
              <a:srgbClr val="F2E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809244" y="2462022"/>
            <a:ext cx="61722" cy="61722"/>
          </a:xfrm>
          <a:prstGeom prst="ellipse">
            <a:avLst/>
          </a:prstGeom>
          <a:solidFill>
            <a:srgbClr val="FF7D7D"/>
          </a:solidFill>
          <a:ln cap="flat" cmpd="sng" w="12700">
            <a:solidFill>
              <a:srgbClr val="FF7D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918972" y="2462022"/>
            <a:ext cx="61722" cy="61722"/>
          </a:xfrm>
          <a:prstGeom prst="ellipse">
            <a:avLst/>
          </a:prstGeom>
          <a:solidFill>
            <a:srgbClr val="F7C35C"/>
          </a:solidFill>
          <a:ln cap="flat" cmpd="sng" w="12700">
            <a:solidFill>
              <a:srgbClr val="F7C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028700" y="2462022"/>
            <a:ext cx="61722" cy="61722"/>
          </a:xfrm>
          <a:prstGeom prst="ellipse">
            <a:avLst/>
          </a:prstGeom>
          <a:solidFill>
            <a:srgbClr val="65D48C"/>
          </a:solidFill>
          <a:ln cap="flat" cmpd="sng" w="12700">
            <a:solidFill>
              <a:srgbClr val="65D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1371600" y="2448306"/>
            <a:ext cx="3223260" cy="109728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1426464" y="2462022"/>
            <a:ext cx="308610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678"/>
              </a:buClr>
              <a:buSzPts val="600"/>
              <a:buFont typeface="Arial"/>
              <a:buNone/>
            </a:pPr>
            <a:r>
              <a:rPr lang="it" sz="600">
                <a:solidFill>
                  <a:srgbClr val="6E6678"/>
                </a:solidFill>
              </a:rPr>
              <a:t>https://cyberikstring.github.io/wiki-sicurezza-afes/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836676" y="2859786"/>
            <a:ext cx="1131570" cy="1275588"/>
          </a:xfrm>
          <a:prstGeom prst="rect">
            <a:avLst/>
          </a:prstGeom>
          <a:solidFill>
            <a:srgbClr val="F8F5FD"/>
          </a:solidFill>
          <a:ln cap="flat" cmpd="sng" w="12700">
            <a:solidFill>
              <a:srgbClr val="F8F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932688" y="2955798"/>
            <a:ext cx="7543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Wiki interna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918972" y="3175254"/>
            <a:ext cx="836676" cy="178308"/>
          </a:xfrm>
          <a:prstGeom prst="roundRect">
            <a:avLst>
              <a:gd fmla="val 19231" name="adj"/>
            </a:avLst>
          </a:prstGeom>
          <a:solidFill>
            <a:srgbClr val="FFFFFF"/>
          </a:solidFill>
          <a:ln cap="flat" cmpd="sng" w="12700">
            <a:solidFill>
              <a:srgbClr val="E7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1014984" y="3223260"/>
            <a:ext cx="61722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918972" y="3518154"/>
            <a:ext cx="836676" cy="178308"/>
          </a:xfrm>
          <a:prstGeom prst="roundRect">
            <a:avLst>
              <a:gd fmla="val 19231" name="adj"/>
            </a:avLst>
          </a:prstGeom>
          <a:solidFill>
            <a:srgbClr val="E7DAFB"/>
          </a:solidFill>
          <a:ln cap="flat" cmpd="sng" w="12700">
            <a:solidFill>
              <a:srgbClr val="E7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1014984" y="3566160"/>
            <a:ext cx="61722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600"/>
              <a:buFont typeface="Arial"/>
              <a:buNone/>
            </a:pPr>
            <a:r>
              <a:rPr b="1" i="0" lang="it" sz="6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Sicurezza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918972" y="3861054"/>
            <a:ext cx="836676" cy="178308"/>
          </a:xfrm>
          <a:prstGeom prst="roundRect">
            <a:avLst>
              <a:gd fmla="val 19231" name="adj"/>
            </a:avLst>
          </a:prstGeom>
          <a:solidFill>
            <a:srgbClr val="FFFFFF"/>
          </a:solidFill>
          <a:ln cap="flat" cmpd="sng" w="12700">
            <a:solidFill>
              <a:srgbClr val="E7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1014984" y="3909060"/>
            <a:ext cx="61722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Componenti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918972" y="4203954"/>
            <a:ext cx="836676" cy="178308"/>
          </a:xfrm>
          <a:prstGeom prst="roundRect">
            <a:avLst>
              <a:gd fmla="val 19231" name="adj"/>
            </a:avLst>
          </a:prstGeom>
          <a:solidFill>
            <a:srgbClr val="FFFFFF"/>
          </a:solidFill>
          <a:ln cap="flat" cmpd="sng" w="12700">
            <a:solidFill>
              <a:srgbClr val="E7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1014984" y="4251960"/>
            <a:ext cx="61722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Vulnerabilità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918972" y="4546854"/>
            <a:ext cx="836676" cy="178308"/>
          </a:xfrm>
          <a:prstGeom prst="roundRect">
            <a:avLst>
              <a:gd fmla="val 19231" name="adj"/>
            </a:avLst>
          </a:prstGeom>
          <a:solidFill>
            <a:srgbClr val="FFFFFF"/>
          </a:solidFill>
          <a:ln cap="flat" cmpd="sng" w="12700">
            <a:solidFill>
              <a:srgbClr val="E7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1014984" y="4594860"/>
            <a:ext cx="61722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Guide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112264" y="2900934"/>
            <a:ext cx="14401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Contenuti principali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2112264" y="3106674"/>
            <a:ext cx="2496312" cy="342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7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221992" y="3168396"/>
            <a:ext cx="130302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Guida sicurezza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221992" y="3278124"/>
            <a:ext cx="164592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678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6E6678"/>
                </a:solidFill>
                <a:latin typeface="Arial"/>
                <a:ea typeface="Arial"/>
                <a:cs typeface="Arial"/>
                <a:sym typeface="Arial"/>
              </a:rPr>
              <a:t>Regole, phishing, password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2112264" y="3586734"/>
            <a:ext cx="2496312" cy="342900"/>
          </a:xfrm>
          <a:prstGeom prst="roundRect">
            <a:avLst>
              <a:gd fmla="val 10000" name="adj"/>
            </a:avLst>
          </a:prstGeom>
          <a:solidFill>
            <a:srgbClr val="F4EEFE"/>
          </a:solidFill>
          <a:ln cap="flat" cmpd="sng" w="12700">
            <a:solidFill>
              <a:srgbClr val="E7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2221992" y="3648456"/>
            <a:ext cx="130302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Stato PC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221992" y="3758184"/>
            <a:ext cx="164592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678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6E6678"/>
                </a:solidFill>
                <a:latin typeface="Arial"/>
                <a:ea typeface="Arial"/>
                <a:cs typeface="Arial"/>
                <a:sym typeface="Arial"/>
              </a:rPr>
              <a:t>Firewall, Defender, systeminfo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2112264" y="4066794"/>
            <a:ext cx="2496312" cy="342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7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2221992" y="4128516"/>
            <a:ext cx="130302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Inventario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221992" y="4238244"/>
            <a:ext cx="164592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678"/>
              </a:buClr>
              <a:buSzPts val="600"/>
              <a:buFont typeface="Arial"/>
              <a:buNone/>
            </a:pPr>
            <a:r>
              <a:rPr b="0" i="0" lang="it" sz="600" u="none" cap="none" strike="noStrike">
                <a:solidFill>
                  <a:srgbClr val="6E6678"/>
                </a:solidFill>
                <a:latin typeface="Arial"/>
                <a:ea typeface="Arial"/>
                <a:cs typeface="Arial"/>
                <a:sym typeface="Arial"/>
              </a:rPr>
              <a:t>Specifiche hardware e note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112264" y="3943350"/>
            <a:ext cx="1131570" cy="164592"/>
          </a:xfrm>
          <a:prstGeom prst="roundRect">
            <a:avLst>
              <a:gd fmla="val 25000" name="adj"/>
            </a:avLst>
          </a:prstGeom>
          <a:solidFill>
            <a:srgbClr val="6D37A6"/>
          </a:solidFill>
          <a:ln cap="flat" cmpd="sng" w="12700">
            <a:solidFill>
              <a:srgbClr val="6D37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2112264" y="3991356"/>
            <a:ext cx="1131570" cy="61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it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Area protetta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5109210" y="2366010"/>
            <a:ext cx="3429000" cy="192024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5109210" y="2366010"/>
            <a:ext cx="54864" cy="1920240"/>
          </a:xfrm>
          <a:prstGeom prst="rect">
            <a:avLst/>
          </a:prstGeom>
          <a:solidFill>
            <a:srgbClr val="6D37A6"/>
          </a:solidFill>
          <a:ln cap="flat" cmpd="sng" w="12700">
            <a:solidFill>
              <a:srgbClr val="6D37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5260086" y="2475738"/>
            <a:ext cx="318897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Competenze messe in gioco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232654" y="2695194"/>
            <a:ext cx="3223260" cy="149504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Uso di HTML per la struttura delle pagine.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Ripasso di JavaScript per rendere il sito più adatto all’idea di wiki.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Organizzazione dei contenuti, non solo scrittura del codice.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Documento progettuale prima della realizzazione.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 txBox="1"/>
          <p:nvPr>
            <p:ph idx="4294967295" type="sldNum"/>
          </p:nvPr>
        </p:nvSpPr>
        <p:spPr>
          <a:xfrm>
            <a:off x="8606790" y="491718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it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5A2A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>
            <a:off x="480060" y="308610"/>
            <a:ext cx="5349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800"/>
              <a:buFont typeface="Play"/>
              <a:buNone/>
            </a:pPr>
            <a:r>
              <a:rPr b="1" i="0" lang="it" sz="1800" u="none" cap="none" strike="noStrike">
                <a:solidFill>
                  <a:srgbClr val="4B1F73"/>
                </a:solidFill>
                <a:latin typeface="Play"/>
                <a:ea typeface="Play"/>
                <a:cs typeface="Play"/>
                <a:sym typeface="Play"/>
              </a:rPr>
              <a:t>Il sito come risorsa interna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93776" y="630936"/>
            <a:ext cx="6035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678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6E6678"/>
                </a:solidFill>
                <a:latin typeface="Arial"/>
                <a:ea typeface="Arial"/>
                <a:cs typeface="Arial"/>
                <a:sym typeface="Arial"/>
              </a:rPr>
              <a:t>Una raccolta unica di dati tecnici, sicurezza e documentazione.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7372350" y="288036"/>
            <a:ext cx="1303020" cy="233172"/>
          </a:xfrm>
          <a:prstGeom prst="roundRect">
            <a:avLst>
              <a:gd fmla="val 23529" name="adj"/>
            </a:avLst>
          </a:prstGeom>
          <a:solidFill>
            <a:srgbClr val="EEE7FA"/>
          </a:solidFill>
          <a:ln cap="flat" cmpd="sng" w="12700">
            <a:solidFill>
              <a:srgbClr val="EEE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7427214" y="336042"/>
            <a:ext cx="120015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700"/>
              <a:buFont typeface="Arial"/>
              <a:buNone/>
            </a:pPr>
            <a:r>
              <a:rPr b="1" i="0" lang="it" sz="7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17220" y="1062990"/>
            <a:ext cx="2606040" cy="130302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740664" y="1186434"/>
            <a:ext cx="425196" cy="425196"/>
          </a:xfrm>
          <a:prstGeom prst="roundRect">
            <a:avLst>
              <a:gd fmla="val 19355" name="adj"/>
            </a:avLst>
          </a:prstGeom>
          <a:solidFill>
            <a:srgbClr val="F3EEFD"/>
          </a:solidFill>
          <a:ln cap="flat" cmpd="sng" w="12700">
            <a:solidFill>
              <a:srgbClr val="F3EE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7" name="Google Shape;2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102" y="12618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/>
          <p:nvPr/>
        </p:nvSpPr>
        <p:spPr>
          <a:xfrm>
            <a:off x="1268730" y="1186434"/>
            <a:ext cx="18516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Wiki consultabile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1268730" y="1385316"/>
            <a:ext cx="183794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La pagina è diventata il punto in cui riunire guida, dati tecnici, note e informazioni utili per il contesto aziendale.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3394710" y="1062990"/>
            <a:ext cx="2606040" cy="130302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3518154" y="1186434"/>
            <a:ext cx="425196" cy="425196"/>
          </a:xfrm>
          <a:prstGeom prst="roundRect">
            <a:avLst>
              <a:gd fmla="val 19355" name="adj"/>
            </a:avLst>
          </a:prstGeom>
          <a:solidFill>
            <a:srgbClr val="F3EEFD"/>
          </a:solidFill>
          <a:ln cap="flat" cmpd="sng" w="12700">
            <a:solidFill>
              <a:srgbClr val="F3EE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2" name="Google Shape;2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3592" y="12618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/>
          <p:nvPr/>
        </p:nvSpPr>
        <p:spPr>
          <a:xfrm>
            <a:off x="4046220" y="1186434"/>
            <a:ext cx="18516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Sezione protetta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4046220" y="1385316"/>
            <a:ext cx="183794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I componenti hardware sono stati messi in una pagina separata protetta da password, distinguendo i contenuti più sensibili.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6172200" y="1062990"/>
            <a:ext cx="2606040" cy="130302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295644" y="1186434"/>
            <a:ext cx="425196" cy="425196"/>
          </a:xfrm>
          <a:prstGeom prst="roundRect">
            <a:avLst>
              <a:gd fmla="val 19355" name="adj"/>
            </a:avLst>
          </a:prstGeom>
          <a:solidFill>
            <a:srgbClr val="F3EEFD"/>
          </a:solidFill>
          <a:ln cap="flat" cmpd="sng" w="12700">
            <a:solidFill>
              <a:srgbClr val="F3EE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7" name="Google Shape;2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1082" y="12618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/>
          <p:nvPr/>
        </p:nvSpPr>
        <p:spPr>
          <a:xfrm>
            <a:off x="6823710" y="1186434"/>
            <a:ext cx="18516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Aggiornabilità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6823710" y="1385316"/>
            <a:ext cx="183794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GitHub Pages ha reso comodo aggiornare il contenuto e il codice senza dover ripensare ogni volta tutta la distribuzione.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617220" y="2811780"/>
            <a:ext cx="7955280" cy="1234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381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809244" y="3031236"/>
            <a:ext cx="28803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Per me questa è stata la parte più completa del tirocinio: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788670" y="3305556"/>
            <a:ext cx="74066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non solo raccolta dati, ma anche trasformazione dei contenuti in qualcosa di utile davvero;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non solo conoscenze web, ma anche scelta di struttura, ordine e accessibilità delle informazioni;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non solo teoria, ma un prodotto finale consultabile e aggiornabile.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1"/>
          <p:cNvSpPr txBox="1"/>
          <p:nvPr>
            <p:ph idx="4294967295" type="sldNum"/>
          </p:nvPr>
        </p:nvSpPr>
        <p:spPr>
          <a:xfrm>
            <a:off x="8606790" y="491718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it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5A2A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/>
          <p:nvPr/>
        </p:nvSpPr>
        <p:spPr>
          <a:xfrm>
            <a:off x="480060" y="308610"/>
            <a:ext cx="5349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800"/>
              <a:buFont typeface="Play"/>
              <a:buNone/>
            </a:pPr>
            <a:r>
              <a:rPr b="1" i="0" lang="it" sz="1800" u="none" cap="none" strike="noStrike">
                <a:solidFill>
                  <a:srgbClr val="4B1F73"/>
                </a:solidFill>
                <a:latin typeface="Play"/>
                <a:ea typeface="Play"/>
                <a:cs typeface="Play"/>
                <a:sym typeface="Play"/>
              </a:rPr>
              <a:t>Abilità e conoscenze apprese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493776" y="630936"/>
            <a:ext cx="6035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678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6E6678"/>
                </a:solidFill>
                <a:latin typeface="Arial"/>
                <a:ea typeface="Arial"/>
                <a:cs typeface="Arial"/>
                <a:sym typeface="Arial"/>
              </a:rPr>
              <a:t>Quello che mi porto via dal tirocinio, in pratica.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7372350" y="288036"/>
            <a:ext cx="1303020" cy="233172"/>
          </a:xfrm>
          <a:prstGeom prst="roundRect">
            <a:avLst>
              <a:gd fmla="val 23529" name="adj"/>
            </a:avLst>
          </a:prstGeom>
          <a:solidFill>
            <a:srgbClr val="EEE7FA"/>
          </a:solidFill>
          <a:ln cap="flat" cmpd="sng" w="12700">
            <a:solidFill>
              <a:srgbClr val="EEE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7427214" y="336042"/>
            <a:ext cx="120015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700"/>
              <a:buFont typeface="Arial"/>
              <a:buNone/>
            </a:pPr>
            <a:r>
              <a:rPr b="1" i="0" lang="it" sz="7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548640" y="1062990"/>
            <a:ext cx="2640330" cy="308610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548640" y="1062990"/>
            <a:ext cx="54864" cy="3086100"/>
          </a:xfrm>
          <a:prstGeom prst="rect">
            <a:avLst/>
          </a:prstGeom>
          <a:solidFill>
            <a:srgbClr val="6D37A6"/>
          </a:solidFill>
          <a:ln cap="flat" cmpd="sng" w="12700">
            <a:solidFill>
              <a:srgbClr val="6D37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699516" y="1172718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Tecnico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672084" y="1392174"/>
            <a:ext cx="2434590" cy="266090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Lettura di specifiche hardware e dati di sistema.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Controllo di firewall, antivirus e stato delle postazioni.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Nozioni più chiare sulle reti wireless aziendali.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Uso concreto di HTML, JavaScript e GitHub Pages.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3257550" y="1062990"/>
            <a:ext cx="2640330" cy="308610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3257550" y="1062990"/>
            <a:ext cx="54864" cy="3086100"/>
          </a:xfrm>
          <a:prstGeom prst="rect">
            <a:avLst/>
          </a:prstGeom>
          <a:solidFill>
            <a:srgbClr val="8E5BE6"/>
          </a:solidFill>
          <a:ln cap="flat" cmpd="sng" w="12700">
            <a:solidFill>
              <a:srgbClr val="8E5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3408426" y="1172718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Organizzativo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3380994" y="1392174"/>
            <a:ext cx="2434590" cy="266090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Raccolta dati in modo ordinato e coerente.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Scrittura di materiale comprensibile anche per altri.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Capacità di trasformare una richiesta in un lavoro strutturato.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Adattamento quando il progetto è cambiato in corso d’opera.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5966460" y="1062990"/>
            <a:ext cx="2640330" cy="308610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5966460" y="1062990"/>
            <a:ext cx="54864" cy="3086100"/>
          </a:xfrm>
          <a:prstGeom prst="rect">
            <a:avLst/>
          </a:prstGeom>
          <a:solidFill>
            <a:srgbClr val="B77AF7"/>
          </a:solidFill>
          <a:ln cap="flat" cmpd="sng" w="12700">
            <a:solidFill>
              <a:srgbClr val="B77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6117336" y="1172718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Visione del lavoro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6089904" y="1392174"/>
            <a:ext cx="2434590" cy="266090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In azienda conta molto avere ordine nelle informazioni.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La sicurezza non è solo tecnica, ma anche comportamentale.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Un prodotto interno utile vale più di un semplice esercizio scolastico.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Char char="•"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Ho iniziato a capire meglio come si lavora davvero in un contesto reale.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 txBox="1"/>
          <p:nvPr>
            <p:ph idx="4294967295" type="sldNum"/>
          </p:nvPr>
        </p:nvSpPr>
        <p:spPr>
          <a:xfrm>
            <a:off x="8606790" y="491718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it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5A2A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/>
          <p:nvPr/>
        </p:nvSpPr>
        <p:spPr>
          <a:xfrm>
            <a:off x="480060" y="308610"/>
            <a:ext cx="5349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800"/>
              <a:buFont typeface="Play"/>
              <a:buNone/>
            </a:pPr>
            <a:r>
              <a:rPr b="1" i="0" lang="it" sz="1800" u="none" cap="none" strike="noStrike">
                <a:solidFill>
                  <a:srgbClr val="4B1F73"/>
                </a:solidFill>
                <a:latin typeface="Play"/>
                <a:ea typeface="Play"/>
                <a:cs typeface="Play"/>
                <a:sym typeface="Play"/>
              </a:rPr>
              <a:t>Consigli e idee per l’azienda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493776" y="630936"/>
            <a:ext cx="6035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678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6E6678"/>
                </a:solidFill>
                <a:latin typeface="Arial"/>
                <a:ea typeface="Arial"/>
                <a:cs typeface="Arial"/>
                <a:sym typeface="Arial"/>
              </a:rPr>
              <a:t>Osservazioni semplici, nate da quello che ho visto e fatto durante il tirocinio.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7372350" y="288036"/>
            <a:ext cx="1303020" cy="233172"/>
          </a:xfrm>
          <a:prstGeom prst="roundRect">
            <a:avLst>
              <a:gd fmla="val 23529" name="adj"/>
            </a:avLst>
          </a:prstGeom>
          <a:solidFill>
            <a:srgbClr val="EEE7FA"/>
          </a:solidFill>
          <a:ln cap="flat" cmpd="sng" w="12700">
            <a:solidFill>
              <a:srgbClr val="EEE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7427214" y="336042"/>
            <a:ext cx="120015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700"/>
              <a:buFont typeface="Arial"/>
              <a:buNone/>
            </a:pPr>
            <a:r>
              <a:rPr b="1" i="0" lang="it" sz="7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Idee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651510" y="1097280"/>
            <a:ext cx="373761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381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802386" y="1261872"/>
            <a:ext cx="288036" cy="288036"/>
          </a:xfrm>
          <a:prstGeom prst="ellipse">
            <a:avLst/>
          </a:prstGeom>
          <a:solidFill>
            <a:srgbClr val="F1E8FE"/>
          </a:solidFill>
          <a:ln cap="flat" cmpd="sng" w="12700">
            <a:solidFill>
              <a:srgbClr val="F1E8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870966" y="1337310"/>
            <a:ext cx="150876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1213866" y="1261872"/>
            <a:ext cx="28117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Aggiornare il censimento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1213866" y="1474470"/>
            <a:ext cx="28803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Continuare a tenere aggiornate le informazioni sui componenti dei PC.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4766310" y="1097280"/>
            <a:ext cx="373761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381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4917186" y="1261872"/>
            <a:ext cx="288036" cy="288036"/>
          </a:xfrm>
          <a:prstGeom prst="ellipse">
            <a:avLst/>
          </a:prstGeom>
          <a:solidFill>
            <a:srgbClr val="F1E8FE"/>
          </a:solidFill>
          <a:ln cap="flat" cmpd="sng" w="12700">
            <a:solidFill>
              <a:srgbClr val="F1E8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4985766" y="1337310"/>
            <a:ext cx="150876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5328666" y="1261872"/>
            <a:ext cx="28117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Monitorare la sicurezza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5328666" y="1474470"/>
            <a:ext cx="28803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Controllare periodicamente firewall, antivirus e dati di sistema.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651510" y="2503170"/>
            <a:ext cx="373761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381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802386" y="2667762"/>
            <a:ext cx="288036" cy="288036"/>
          </a:xfrm>
          <a:prstGeom prst="ellipse">
            <a:avLst/>
          </a:prstGeom>
          <a:solidFill>
            <a:srgbClr val="F1E8FE"/>
          </a:solidFill>
          <a:ln cap="flat" cmpd="sng" w="12700">
            <a:solidFill>
              <a:srgbClr val="F1E8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870966" y="2743200"/>
            <a:ext cx="150876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213866" y="2667762"/>
            <a:ext cx="28117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Mantenere il sito vivo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1213866" y="2880360"/>
            <a:ext cx="28803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Usare la wiki interna come punto unico da aggiornare nel tempo.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4766310" y="2503170"/>
            <a:ext cx="373761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5C7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381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4917186" y="2667762"/>
            <a:ext cx="288036" cy="288036"/>
          </a:xfrm>
          <a:prstGeom prst="ellipse">
            <a:avLst/>
          </a:prstGeom>
          <a:solidFill>
            <a:srgbClr val="F1E8FE"/>
          </a:solidFill>
          <a:ln cap="flat" cmpd="sng" w="12700">
            <a:solidFill>
              <a:srgbClr val="F1E8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4985766" y="2743200"/>
            <a:ext cx="150876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800"/>
              <a:buFont typeface="Arial"/>
              <a:buNone/>
            </a:pPr>
            <a:r>
              <a:rPr b="1" i="0" lang="it" sz="8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5328666" y="2667762"/>
            <a:ext cx="28117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Sensibilizzare i dipendenti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5328666" y="2880360"/>
            <a:ext cx="28803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Proseguire con guide e raccomandazioni sui comportamenti corretti.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651510" y="4046220"/>
            <a:ext cx="7852410" cy="288036"/>
          </a:xfrm>
          <a:prstGeom prst="roundRect">
            <a:avLst>
              <a:gd fmla="val 19048" name="adj"/>
            </a:avLst>
          </a:prstGeom>
          <a:solidFill>
            <a:srgbClr val="F4EEFE"/>
          </a:solidFill>
          <a:ln cap="flat" cmpd="sng" w="12700">
            <a:solidFill>
              <a:srgbClr val="F4E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857250" y="4135374"/>
            <a:ext cx="747522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800"/>
              <a:buFont typeface="Arial"/>
              <a:buNone/>
            </a:pPr>
            <a:r>
              <a:rPr b="0" i="1" lang="it" sz="8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L’idea di fondo è semplice: dati tecnici ordinati + sicurezza curata + documentazione accessibile = lavoro più chiaro nel tempo.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3"/>
          <p:cNvSpPr txBox="1"/>
          <p:nvPr>
            <p:ph idx="4294967295" type="sldNum"/>
          </p:nvPr>
        </p:nvSpPr>
        <p:spPr>
          <a:xfrm>
            <a:off x="8606790" y="491718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it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5A2A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E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BF9FE"/>
          </a:solidFill>
          <a:ln cap="flat" cmpd="sng" w="12700">
            <a:solidFill>
              <a:srgbClr val="FBF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617220" y="548640"/>
            <a:ext cx="7886700" cy="397764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E7DAF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889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857250" y="822960"/>
            <a:ext cx="685800" cy="685800"/>
          </a:xfrm>
          <a:prstGeom prst="roundRect">
            <a:avLst>
              <a:gd fmla="val 20000" name="adj"/>
            </a:avLst>
          </a:prstGeom>
          <a:solidFill>
            <a:srgbClr val="F3ECFD"/>
          </a:solidFill>
          <a:ln cap="flat" cmpd="sng" w="12700">
            <a:solidFill>
              <a:srgbClr val="F3EC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6" name="Google Shape;3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126" y="9738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4"/>
          <p:cNvSpPr/>
          <p:nvPr/>
        </p:nvSpPr>
        <p:spPr>
          <a:xfrm>
            <a:off x="1680210" y="932688"/>
            <a:ext cx="17145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800"/>
              <a:buFont typeface="Play"/>
              <a:buNone/>
            </a:pPr>
            <a:r>
              <a:rPr b="1" i="0" lang="it" sz="1800" u="none" cap="none" strike="noStrike">
                <a:solidFill>
                  <a:srgbClr val="4B1F73"/>
                </a:solidFill>
                <a:latin typeface="Play"/>
                <a:ea typeface="Play"/>
                <a:cs typeface="Play"/>
                <a:sym typeface="Play"/>
              </a:rPr>
              <a:t>Conclusione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891540" y="1508760"/>
            <a:ext cx="73380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A2E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41A2E"/>
                </a:solidFill>
                <a:latin typeface="Arial"/>
                <a:ea typeface="Arial"/>
                <a:cs typeface="Arial"/>
                <a:sym typeface="Arial"/>
              </a:rPr>
              <a:t>Nel complesso, considero questo tirocinio un’esperienza utile e formativa. Mi ha permesso di ripassare conoscenze già acquisite, ma soprattutto di usarle in una situazione concreta, con richieste vere e con uno scopo preciso.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24"/>
          <p:cNvCxnSpPr/>
          <p:nvPr/>
        </p:nvCxnSpPr>
        <p:spPr>
          <a:xfrm>
            <a:off x="2057400" y="2366010"/>
            <a:ext cx="5006340" cy="0"/>
          </a:xfrm>
          <a:prstGeom prst="straightConnector1">
            <a:avLst/>
          </a:prstGeom>
          <a:noFill/>
          <a:ln cap="flat" cmpd="sng" w="12700">
            <a:solidFill>
              <a:srgbClr val="D8C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24"/>
          <p:cNvSpPr/>
          <p:nvPr/>
        </p:nvSpPr>
        <p:spPr>
          <a:xfrm>
            <a:off x="1165860" y="2571750"/>
            <a:ext cx="67894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37A6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6D37A6"/>
                </a:solidFill>
                <a:latin typeface="Arial"/>
                <a:ea typeface="Arial"/>
                <a:cs typeface="Arial"/>
                <a:sym typeface="Arial"/>
              </a:rPr>
              <a:t>Mi ha lasciato qualcosa di tecnico, qualcosa di organizzativo e un primo vero sguardo su come si lavora in azienda.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822960" y="3737610"/>
            <a:ext cx="7475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1F73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4B1F73"/>
                </a:solidFill>
                <a:latin typeface="Arial"/>
                <a:ea typeface="Arial"/>
                <a:cs typeface="Arial"/>
                <a:sym typeface="Arial"/>
              </a:rPr>
              <a:t>Grazie per l’attenzione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822960" y="4011930"/>
            <a:ext cx="74752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678"/>
              </a:buClr>
              <a:buSzPts val="900"/>
              <a:buFont typeface="Arial"/>
              <a:buNone/>
            </a:pPr>
            <a:r>
              <a:rPr b="0" i="0" lang="it" sz="900" u="none" cap="none" strike="noStrike">
                <a:solidFill>
                  <a:srgbClr val="6E6678"/>
                </a:solidFill>
                <a:latin typeface="Arial"/>
                <a:ea typeface="Arial"/>
                <a:cs typeface="Arial"/>
                <a:sym typeface="Arial"/>
              </a:rPr>
              <a:t>Riccardo Strina · Tirocinante IT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4"/>
          <p:cNvSpPr txBox="1"/>
          <p:nvPr>
            <p:ph idx="4294967295" type="sldNum"/>
          </p:nvPr>
        </p:nvSpPr>
        <p:spPr>
          <a:xfrm>
            <a:off x="8606790" y="491718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it" sz="700" u="none" cap="none" strike="noStrike">
                <a:solidFill>
                  <a:srgbClr val="5A2A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5A2A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